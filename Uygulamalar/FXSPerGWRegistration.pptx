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7" r:id="rId9"/>
    <p:sldId id="26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82BC74-EF56-FF4A-B10F-E49F55D4423A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96CC0-0AE8-574E-AB44-D0AC8F9707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423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102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2735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450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9853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784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000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1161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5790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408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Click to edit Master subtitle style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5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0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8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1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3" indent="0">
              <a:buNone/>
              <a:defRPr sz="1800" b="1"/>
            </a:lvl3pPr>
            <a:lvl4pPr marL="1371530" indent="0">
              <a:buNone/>
              <a:defRPr sz="1600" b="1"/>
            </a:lvl4pPr>
            <a:lvl5pPr marL="1828706" indent="0">
              <a:buNone/>
              <a:defRPr sz="1600" b="1"/>
            </a:lvl5pPr>
            <a:lvl6pPr marL="2285883" indent="0">
              <a:buNone/>
              <a:defRPr sz="1600" b="1"/>
            </a:lvl6pPr>
            <a:lvl7pPr marL="2743060" indent="0">
              <a:buNone/>
              <a:defRPr sz="1600" b="1"/>
            </a:lvl7pPr>
            <a:lvl8pPr marL="3200236" indent="0">
              <a:buNone/>
              <a:defRPr sz="1600" b="1"/>
            </a:lvl8pPr>
            <a:lvl9pPr marL="3657413" indent="0">
              <a:buNone/>
              <a:defRPr sz="1600" b="1"/>
            </a:lvl9pPr>
          </a:lstStyle>
          <a:p>
            <a:pPr lvl="0"/>
            <a:r>
              <a:rPr lang="tr-T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3" indent="0">
              <a:buNone/>
              <a:defRPr sz="1800" b="1"/>
            </a:lvl3pPr>
            <a:lvl4pPr marL="1371530" indent="0">
              <a:buNone/>
              <a:defRPr sz="1600" b="1"/>
            </a:lvl4pPr>
            <a:lvl5pPr marL="1828706" indent="0">
              <a:buNone/>
              <a:defRPr sz="1600" b="1"/>
            </a:lvl5pPr>
            <a:lvl6pPr marL="2285883" indent="0">
              <a:buNone/>
              <a:defRPr sz="1600" b="1"/>
            </a:lvl6pPr>
            <a:lvl7pPr marL="2743060" indent="0">
              <a:buNone/>
              <a:defRPr sz="1600" b="1"/>
            </a:lvl7pPr>
            <a:lvl8pPr marL="3200236" indent="0">
              <a:buNone/>
              <a:defRPr sz="1600" b="1"/>
            </a:lvl8pPr>
            <a:lvl9pPr marL="3657413" indent="0">
              <a:buNone/>
              <a:defRPr sz="1600" b="1"/>
            </a:lvl9pPr>
          </a:lstStyle>
          <a:p>
            <a:pPr lvl="0"/>
            <a:r>
              <a:rPr lang="tr-T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3" indent="0">
              <a:buNone/>
              <a:defRPr sz="1000"/>
            </a:lvl3pPr>
            <a:lvl4pPr marL="1371530" indent="0">
              <a:buNone/>
              <a:defRPr sz="900"/>
            </a:lvl4pPr>
            <a:lvl5pPr marL="1828706" indent="0">
              <a:buNone/>
              <a:defRPr sz="900"/>
            </a:lvl5pPr>
            <a:lvl6pPr marL="2285883" indent="0">
              <a:buNone/>
              <a:defRPr sz="900"/>
            </a:lvl6pPr>
            <a:lvl7pPr marL="2743060" indent="0">
              <a:buNone/>
              <a:defRPr sz="900"/>
            </a:lvl7pPr>
            <a:lvl8pPr marL="3200236" indent="0">
              <a:buNone/>
              <a:defRPr sz="900"/>
            </a:lvl8pPr>
            <a:lvl9pPr marL="3657413" indent="0">
              <a:buNone/>
              <a:defRPr sz="900"/>
            </a:lvl9pPr>
          </a:lstStyle>
          <a:p>
            <a:pPr lvl="0"/>
            <a:r>
              <a:rPr lang="tr-T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3" indent="0">
              <a:buNone/>
              <a:defRPr sz="2400"/>
            </a:lvl3pPr>
            <a:lvl4pPr marL="1371530" indent="0">
              <a:buNone/>
              <a:defRPr sz="2000"/>
            </a:lvl4pPr>
            <a:lvl5pPr marL="1828706" indent="0">
              <a:buNone/>
              <a:defRPr sz="2000"/>
            </a:lvl5pPr>
            <a:lvl6pPr marL="2285883" indent="0">
              <a:buNone/>
              <a:defRPr sz="2000"/>
            </a:lvl6pPr>
            <a:lvl7pPr marL="2743060" indent="0">
              <a:buNone/>
              <a:defRPr sz="2000"/>
            </a:lvl7pPr>
            <a:lvl8pPr marL="3200236" indent="0">
              <a:buNone/>
              <a:defRPr sz="2000"/>
            </a:lvl8pPr>
            <a:lvl9pPr marL="3657413" indent="0">
              <a:buNone/>
              <a:defRPr sz="2000"/>
            </a:lvl9pPr>
          </a:lstStyle>
          <a:p>
            <a:pPr lvl="0"/>
            <a:r>
              <a:rPr lang="tr-TR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3" indent="0">
              <a:buNone/>
              <a:defRPr sz="1000"/>
            </a:lvl3pPr>
            <a:lvl4pPr marL="1371530" indent="0">
              <a:buNone/>
              <a:defRPr sz="900"/>
            </a:lvl4pPr>
            <a:lvl5pPr marL="1828706" indent="0">
              <a:buNone/>
              <a:defRPr sz="900"/>
            </a:lvl5pPr>
            <a:lvl6pPr marL="2285883" indent="0">
              <a:buNone/>
              <a:defRPr sz="900"/>
            </a:lvl6pPr>
            <a:lvl7pPr marL="2743060" indent="0">
              <a:buNone/>
              <a:defRPr sz="900"/>
            </a:lvl7pPr>
            <a:lvl8pPr marL="3200236" indent="0">
              <a:buNone/>
              <a:defRPr sz="900"/>
            </a:lvl8pPr>
            <a:lvl9pPr marL="3657413" indent="0">
              <a:buNone/>
              <a:defRPr sz="900"/>
            </a:lvl9pPr>
          </a:lstStyle>
          <a:p>
            <a:pPr lvl="0"/>
            <a:r>
              <a:rPr lang="tr-T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647" y="274588"/>
            <a:ext cx="822870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r-TR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647" y="1600647"/>
            <a:ext cx="8228707" cy="4525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647" y="6356821"/>
            <a:ext cx="2133079" cy="365001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+mn-ea"/>
                <a:cs typeface="Arial" pitchFamily="34" charset="0"/>
              </a:defRPr>
            </a:lvl1pPr>
          </a:lstStyle>
          <a:p>
            <a:fld id="{184A2AC2-3487-0B48-8CAB-499ECB40A478}" type="datetimeFigureOut">
              <a:rPr lang="en-US" smtClean="0"/>
              <a:pPr/>
              <a:t>12/20/2016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75" y="6356821"/>
            <a:ext cx="2895451" cy="365001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+mn-ea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75" y="6356821"/>
            <a:ext cx="2133079" cy="365001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+mn-ea"/>
                <a:cs typeface="Arial" pitchFamily="34" charset="0"/>
              </a:defRPr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145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맑은 고딕"/>
        </a:defRPr>
      </a:lvl1pPr>
      <a:lvl2pPr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2pPr>
      <a:lvl3pPr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3pPr>
      <a:lvl4pPr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4pPr>
      <a:lvl5pPr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5pPr>
      <a:lvl6pPr marL="321457"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6pPr>
      <a:lvl7pPr marL="642915"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7pPr>
      <a:lvl8pPr marL="964372"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8pPr>
      <a:lvl9pPr marL="1285829"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9pPr>
    </p:titleStyle>
    <p:bodyStyle>
      <a:lvl1pPr marL="342665" indent="-342665" algn="l" defTabSz="91414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맑은 고딕"/>
        </a:defRPr>
      </a:lvl1pPr>
      <a:lvl2pPr marL="742254" indent="-284624" algn="l" defTabSz="91414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맑은 고딕"/>
        </a:defRPr>
      </a:lvl2pPr>
      <a:lvl3pPr marL="1141844" indent="-227699" algn="l" defTabSz="91414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맑은 고딕"/>
        </a:defRPr>
      </a:lvl3pPr>
      <a:lvl4pPr marL="1599474" indent="-227699" algn="l" defTabSz="91414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맑은 고딕"/>
        </a:defRPr>
      </a:lvl4pPr>
      <a:lvl5pPr marL="2057104" indent="-227699" algn="l" defTabSz="91414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맑은 고딕"/>
        </a:defRPr>
      </a:lvl5pPr>
      <a:lvl6pPr marL="2514471" indent="-228588" algn="l" defTabSz="91435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48" indent="-228588" algn="l" defTabSz="91435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5" indent="-228588" algn="l" defTabSz="91435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1" indent="-228588" algn="l" defTabSz="91435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6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36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751063"/>
            <a:ext cx="7772400" cy="1470025"/>
          </a:xfrm>
        </p:spPr>
        <p:txBody>
          <a:bodyPr/>
          <a:lstStyle/>
          <a:p>
            <a:r>
              <a:rPr lang="tr-TR" b="1" dirty="0" err="1" smtClean="0"/>
              <a:t>Audiocodes</a:t>
            </a:r>
            <a:r>
              <a:rPr lang="tr-TR" b="1" dirty="0" smtClean="0"/>
              <a:t> </a:t>
            </a:r>
            <a:r>
              <a:rPr lang="tr-TR" b="1" dirty="0" err="1" smtClean="0"/>
              <a:t>FXS</a:t>
            </a:r>
            <a:r>
              <a:rPr lang="tr-TR" b="1" dirty="0"/>
              <a:t> </a:t>
            </a:r>
            <a:r>
              <a:rPr lang="tr-TR" b="1" dirty="0" err="1" smtClean="0"/>
              <a:t>per</a:t>
            </a:r>
            <a:r>
              <a:rPr lang="tr-TR" b="1" dirty="0" smtClean="0"/>
              <a:t> GW </a:t>
            </a:r>
            <a:r>
              <a:rPr lang="tr-TR" b="1" dirty="0" err="1" smtClean="0"/>
              <a:t>registration</a:t>
            </a:r>
            <a:endParaRPr lang="en-US" b="1" dirty="0"/>
          </a:p>
        </p:txBody>
      </p:sp>
      <p:sp>
        <p:nvSpPr>
          <p:cNvPr id="6" name="Subtitle 6"/>
          <p:cNvSpPr txBox="1">
            <a:spLocks/>
          </p:cNvSpPr>
          <p:nvPr/>
        </p:nvSpPr>
        <p:spPr>
          <a:xfrm>
            <a:off x="1433215" y="4941168"/>
            <a:ext cx="6400354" cy="962174"/>
          </a:xfrm>
          <a:prstGeom prst="rect">
            <a:avLst/>
          </a:prstGeom>
        </p:spPr>
        <p:txBody>
          <a:bodyPr lIns="91435" tIns="45718" rIns="91435" bIns="45718"/>
          <a:lstStyle/>
          <a:p>
            <a:pPr marL="342665" indent="-342665" algn="ctr" eaLnBrk="0" latinLnBrk="1" hangingPunct="0">
              <a:spcBef>
                <a:spcPct val="20000"/>
              </a:spcBef>
              <a:defRPr/>
            </a:pPr>
            <a:r>
              <a:rPr lang="tr-TR" sz="17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(</a:t>
            </a:r>
            <a:r>
              <a:rPr lang="tr-TR" sz="17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Bircom – Müşteri Deneyimi ve Ürün Geliştirme)</a:t>
            </a:r>
          </a:p>
          <a:p>
            <a:pPr marL="342665" indent="-342665" algn="ctr" eaLnBrk="0" latinLnBrk="1" hangingPunct="0">
              <a:spcBef>
                <a:spcPct val="20000"/>
              </a:spcBef>
              <a:defRPr/>
            </a:pPr>
            <a:r>
              <a:rPr lang="tr-TR" sz="17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2016</a:t>
            </a:r>
            <a:endParaRPr lang="tr-TR" sz="5100" dirty="0">
              <a:effectLst>
                <a:outerShdw blurRad="38100" dist="38100" dir="2700000" algn="tl">
                  <a:srgbClr val="C0C0C0"/>
                </a:outerShdw>
              </a:effectLst>
              <a:latin typeface="Calibri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72" y="1523537"/>
            <a:ext cx="2019300" cy="571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836712"/>
            <a:ext cx="9048750" cy="3352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9512" y="4365104"/>
            <a:ext cx="86280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 smtClean="0"/>
              <a:t>Use</a:t>
            </a:r>
            <a:r>
              <a:rPr lang="tr-TR" dirty="0" smtClean="0"/>
              <a:t> </a:t>
            </a:r>
            <a:r>
              <a:rPr lang="tr-TR" dirty="0" err="1" smtClean="0"/>
              <a:t>Default</a:t>
            </a:r>
            <a:r>
              <a:rPr lang="tr-TR" dirty="0" smtClean="0"/>
              <a:t> Proxy </a:t>
            </a:r>
            <a:r>
              <a:rPr lang="tr-TR" dirty="0" err="1" smtClean="0"/>
              <a:t>Yes</a:t>
            </a:r>
            <a:r>
              <a:rPr lang="tr-TR" dirty="0" smtClean="0"/>
              <a:t> seçilir ve altındaki mavi ok işareti tıklanarak Proxy tablosuna sunucu </a:t>
            </a:r>
          </a:p>
          <a:p>
            <a:r>
              <a:rPr lang="tr-TR" dirty="0" smtClean="0"/>
              <a:t>IP adresi girilir,</a:t>
            </a:r>
            <a:endParaRPr lang="tr-TR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22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62" y="908720"/>
            <a:ext cx="8905875" cy="34766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5536" y="4725144"/>
            <a:ext cx="6493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Proxy </a:t>
            </a:r>
            <a:r>
              <a:rPr lang="tr-TR" dirty="0" err="1" smtClean="0"/>
              <a:t>Table</a:t>
            </a:r>
            <a:r>
              <a:rPr lang="tr-TR" dirty="0" smtClean="0"/>
              <a:t> kısmına </a:t>
            </a:r>
            <a:r>
              <a:rPr lang="tr-TR" dirty="0" err="1" smtClean="0"/>
              <a:t>SİP</a:t>
            </a:r>
            <a:r>
              <a:rPr lang="tr-TR" dirty="0" smtClean="0"/>
              <a:t> sunucu IP si ve haberleşme protokolü seçilir</a:t>
            </a:r>
            <a:endParaRPr lang="tr-T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167321"/>
            <a:ext cx="20193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548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" y="836712"/>
            <a:ext cx="9124950" cy="44386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0920" y="5275362"/>
            <a:ext cx="85335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 smtClean="0"/>
              <a:t>Proxy&amp;Registration</a:t>
            </a:r>
            <a:r>
              <a:rPr lang="tr-TR" dirty="0" smtClean="0"/>
              <a:t> bölümüne geri dönülür ve yukarıdaki ayarlar yapılır, </a:t>
            </a:r>
            <a:r>
              <a:rPr lang="tr-TR" dirty="0" err="1" smtClean="0"/>
              <a:t>enable</a:t>
            </a:r>
            <a:r>
              <a:rPr lang="tr-TR" dirty="0" smtClean="0"/>
              <a:t> </a:t>
            </a:r>
            <a:r>
              <a:rPr lang="tr-TR" dirty="0" err="1" smtClean="0"/>
              <a:t>registratin</a:t>
            </a:r>
            <a:endParaRPr lang="tr-TR" dirty="0" smtClean="0"/>
          </a:p>
          <a:p>
            <a:r>
              <a:rPr lang="tr-TR" dirty="0" smtClean="0"/>
              <a:t>Proxy </a:t>
            </a:r>
            <a:r>
              <a:rPr lang="tr-TR" dirty="0" err="1" smtClean="0"/>
              <a:t>suncu</a:t>
            </a:r>
            <a:r>
              <a:rPr lang="tr-TR" dirty="0" smtClean="0"/>
              <a:t> ip si kullanıcı adı ve şifreler</a:t>
            </a:r>
            <a:endParaRPr lang="tr-T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4" y="156619"/>
            <a:ext cx="20193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831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16632"/>
            <a:ext cx="2019300" cy="571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68" y="908720"/>
            <a:ext cx="8981827" cy="3960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1417" y="5229200"/>
            <a:ext cx="7520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 smtClean="0"/>
              <a:t>FXS</a:t>
            </a:r>
            <a:r>
              <a:rPr lang="tr-TR" dirty="0" smtClean="0"/>
              <a:t> portların numarası ( 1006-1009 ) ve ait oldukları </a:t>
            </a:r>
            <a:r>
              <a:rPr lang="tr-TR" dirty="0" err="1" smtClean="0"/>
              <a:t>Hunt</a:t>
            </a:r>
            <a:r>
              <a:rPr lang="tr-TR" dirty="0" smtClean="0"/>
              <a:t> </a:t>
            </a:r>
            <a:r>
              <a:rPr lang="tr-TR" dirty="0" err="1" smtClean="0"/>
              <a:t>Group</a:t>
            </a:r>
            <a:r>
              <a:rPr lang="tr-TR" dirty="0" smtClean="0"/>
              <a:t> </a:t>
            </a:r>
            <a:r>
              <a:rPr lang="tr-TR" dirty="0" err="1" smtClean="0"/>
              <a:t>ID</a:t>
            </a:r>
            <a:r>
              <a:rPr lang="tr-TR" dirty="0" smtClean="0"/>
              <a:t> si ayarlanır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57316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16632"/>
            <a:ext cx="2019300" cy="571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2" y="836712"/>
            <a:ext cx="8784976" cy="4248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3528" y="5301208"/>
            <a:ext cx="8706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1 </a:t>
            </a:r>
            <a:r>
              <a:rPr lang="tr-TR" dirty="0" err="1" smtClean="0"/>
              <a:t>nolu</a:t>
            </a:r>
            <a:r>
              <a:rPr lang="tr-TR" dirty="0" smtClean="0"/>
              <a:t> </a:t>
            </a:r>
            <a:r>
              <a:rPr lang="tr-TR" dirty="0" err="1" smtClean="0"/>
              <a:t>Hunt</a:t>
            </a:r>
            <a:r>
              <a:rPr lang="tr-TR" dirty="0" smtClean="0"/>
              <a:t> grubuna dahil olan </a:t>
            </a:r>
            <a:r>
              <a:rPr lang="tr-TR" dirty="0" err="1" smtClean="0"/>
              <a:t>FXS</a:t>
            </a:r>
            <a:r>
              <a:rPr lang="tr-TR" dirty="0" smtClean="0"/>
              <a:t> </a:t>
            </a:r>
            <a:r>
              <a:rPr lang="tr-TR" dirty="0" err="1" smtClean="0"/>
              <a:t>portlarınını</a:t>
            </a:r>
            <a:r>
              <a:rPr lang="tr-TR" dirty="0" smtClean="0"/>
              <a:t> hangi </a:t>
            </a:r>
            <a:r>
              <a:rPr lang="tr-TR" dirty="0" err="1" smtClean="0"/>
              <a:t>mode</a:t>
            </a:r>
            <a:r>
              <a:rPr lang="tr-TR" dirty="0" smtClean="0"/>
              <a:t> de çalışacağı buradan belirlenir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71932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16632"/>
            <a:ext cx="2019300" cy="571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94" y="908720"/>
            <a:ext cx="9031734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7544" y="4869160"/>
            <a:ext cx="86802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Maximum </a:t>
            </a:r>
            <a:r>
              <a:rPr lang="tr-TR" dirty="0" err="1" smtClean="0"/>
              <a:t>DTMF</a:t>
            </a:r>
            <a:r>
              <a:rPr lang="tr-TR" dirty="0" smtClean="0"/>
              <a:t> </a:t>
            </a:r>
            <a:r>
              <a:rPr lang="tr-TR" dirty="0" err="1" smtClean="0"/>
              <a:t>digit</a:t>
            </a:r>
            <a:r>
              <a:rPr lang="tr-TR" dirty="0" smtClean="0"/>
              <a:t> sayısı 20 olarak ayarlanır, </a:t>
            </a:r>
            <a:r>
              <a:rPr lang="tr-TR" dirty="0" err="1" smtClean="0"/>
              <a:t>interdigit</a:t>
            </a:r>
            <a:r>
              <a:rPr lang="tr-TR" dirty="0" smtClean="0"/>
              <a:t> </a:t>
            </a:r>
            <a:r>
              <a:rPr lang="tr-TR" dirty="0" err="1" smtClean="0"/>
              <a:t>timeout</a:t>
            </a:r>
            <a:r>
              <a:rPr lang="tr-TR" dirty="0" smtClean="0"/>
              <a:t> parametresi de 4 den 3 e</a:t>
            </a:r>
          </a:p>
          <a:p>
            <a:r>
              <a:rPr lang="tr-TR" dirty="0" smtClean="0"/>
              <a:t>düşürülebilir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75290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16632"/>
            <a:ext cx="2019300" cy="571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31" y="980728"/>
            <a:ext cx="8804858" cy="39147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5390" y="5301208"/>
            <a:ext cx="6695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IP den gelen aramaların 1 </a:t>
            </a:r>
            <a:r>
              <a:rPr lang="tr-TR" dirty="0" err="1" smtClean="0"/>
              <a:t>nolu</a:t>
            </a:r>
            <a:r>
              <a:rPr lang="tr-TR" dirty="0" smtClean="0"/>
              <a:t> </a:t>
            </a:r>
            <a:r>
              <a:rPr lang="tr-TR" dirty="0" err="1" smtClean="0"/>
              <a:t>Hunt</a:t>
            </a:r>
            <a:r>
              <a:rPr lang="tr-TR" dirty="0" smtClean="0"/>
              <a:t> grubunda sonlandırılması gerekir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89658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16632"/>
            <a:ext cx="2019300" cy="571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2" y="980728"/>
            <a:ext cx="8784976" cy="38884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1560" y="4965048"/>
            <a:ext cx="78227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 smtClean="0"/>
              <a:t>Status</a:t>
            </a:r>
            <a:r>
              <a:rPr lang="tr-TR" dirty="0" smtClean="0"/>
              <a:t> &amp; </a:t>
            </a:r>
            <a:r>
              <a:rPr lang="tr-TR" dirty="0" err="1" smtClean="0"/>
              <a:t>Diagnostics</a:t>
            </a:r>
            <a:r>
              <a:rPr lang="tr-TR" dirty="0" smtClean="0"/>
              <a:t> bölümünden </a:t>
            </a:r>
            <a:r>
              <a:rPr lang="tr-TR" dirty="0" err="1" smtClean="0"/>
              <a:t>Registered</a:t>
            </a:r>
            <a:r>
              <a:rPr lang="tr-TR" dirty="0" smtClean="0"/>
              <a:t> Per Gateway in </a:t>
            </a:r>
            <a:r>
              <a:rPr lang="tr-TR" dirty="0" err="1" smtClean="0"/>
              <a:t>YES</a:t>
            </a:r>
            <a:r>
              <a:rPr lang="tr-TR" dirty="0" smtClean="0"/>
              <a:t> olması gerekiyor</a:t>
            </a:r>
          </a:p>
          <a:p>
            <a:r>
              <a:rPr lang="tr-TR" dirty="0" smtClean="0"/>
              <a:t>bu aşamadan sonra çağrı gönderip çağrı alabiliyor olmanız lazım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57685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ircom Haz?r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Bircom Haz?r Template.potx</Template>
  <TotalTime>4156</TotalTime>
  <Words>147</Words>
  <Application>Microsoft Office PowerPoint</Application>
  <PresentationFormat>On-screen Show (4:3)</PresentationFormat>
  <Paragraphs>24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Calibri</vt:lpstr>
      <vt:lpstr>Bircom Haz?r Template</vt:lpstr>
      <vt:lpstr>Audiocodes FXS per GW registration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Bircom</Company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Serkan ER</dc:creator>
  <cp:lastModifiedBy>ergin boyaci</cp:lastModifiedBy>
  <cp:revision>220</cp:revision>
  <dcterms:created xsi:type="dcterms:W3CDTF">2011-08-11T06:57:34Z</dcterms:created>
  <dcterms:modified xsi:type="dcterms:W3CDTF">2016-12-20T08:47:29Z</dcterms:modified>
</cp:coreProperties>
</file>